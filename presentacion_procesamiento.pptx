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28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852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80290-83DB-F9DB-B297-35D4D4507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3C4654-A5DB-7ECC-BE40-396A5CE954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8CF9FA-7940-236F-1762-359974E7A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33BF9A-9D64-9619-4764-01D232B185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466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097280"/>
            <a:ext cx="5029200" cy="5029200"/>
          </a:xfrm>
          <a:prstGeom prst="ellipse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309360" y="-457200"/>
            <a:ext cx="3657600" cy="3657600"/>
          </a:xfrm>
          <a:prstGeom prst="ellipse">
            <a:avLst/>
          </a:prstGeom>
          <a:solidFill>
            <a:srgbClr val="A855F7">
              <a:alpha val="30000"/>
            </a:srgbClr>
          </a:solidFill>
          <a:ln w="12700">
            <a:solidFill>
              <a:srgbClr val="A855F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-914400" y="3474720"/>
            <a:ext cx="3200400" cy="320040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Reto </a:t>
            </a:r>
            <a:r>
              <a:rPr lang="en-US" sz="34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procesamiento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Parque Eólico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365760" y="2944368"/>
            <a:ext cx="2926080" cy="41148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65760" y="30906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Proyecto IoT — Python · FastAPI · SQLAlchemy · Streamlit · Pydantic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749040"/>
            <a:ext cx="1572768" cy="384048"/>
          </a:xfrm>
          <a:prstGeom prst="roundRect">
            <a:avLst>
              <a:gd name="adj" fmla="val 14286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65760" y="37490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84832" y="3749040"/>
            <a:ext cx="1572768" cy="384048"/>
          </a:xfrm>
          <a:prstGeom prst="roundRect">
            <a:avLst>
              <a:gd name="adj" fmla="val 14286"/>
            </a:avLst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2084832" y="37490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Pydantic v2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03904" y="3749040"/>
            <a:ext cx="1572768" cy="384048"/>
          </a:xfrm>
          <a:prstGeom prst="roundRect">
            <a:avLst>
              <a:gd name="adj" fmla="val 14286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803904" y="37490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SQLAlchemy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22976" y="3749040"/>
            <a:ext cx="1572768" cy="384048"/>
          </a:xfrm>
          <a:prstGeom prst="roundRect">
            <a:avLst>
              <a:gd name="adj" fmla="val 14286"/>
            </a:avLst>
          </a:prstGeom>
          <a:solidFill>
            <a:srgbClr val="E879F9">
              <a:alpha val="70000"/>
            </a:srgbClr>
          </a:solidFill>
          <a:ln w="12700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522976" y="37490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Streamlit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242048" y="3749040"/>
            <a:ext cx="1572768" cy="384048"/>
          </a:xfrm>
          <a:prstGeom prst="roundRect">
            <a:avLst>
              <a:gd name="adj" fmla="val 14286"/>
            </a:avLst>
          </a:prstGeom>
          <a:solidFill>
            <a:srgbClr val="34D399">
              <a:alpha val="7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7242048" y="37490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4434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201168"/>
            <a:ext cx="329184" cy="329184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8577072" y="347472"/>
            <a:ext cx="219456" cy="219456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8211312" y="4187952"/>
            <a:ext cx="402336" cy="402336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11480" y="4069080"/>
            <a:ext cx="274320" cy="274320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480560" y="91440"/>
            <a:ext cx="182880" cy="182880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242048" y="2487168"/>
            <a:ext cx="146304" cy="146304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581912" y="1947672"/>
            <a:ext cx="128016" cy="128016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4005072" y="4462272"/>
            <a:ext cx="219456" cy="219456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01168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 del Sistema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01168" y="59436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Tres capas independientes · HTTP REST · SQLite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274320" y="487375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686800" y="487375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47472" y="1097280"/>
            <a:ext cx="2468880" cy="256032"/>
          </a:xfrm>
          <a:prstGeom prst="roundRect">
            <a:avLst>
              <a:gd name="adj" fmla="val 14286"/>
            </a:avLst>
          </a:prstGeom>
          <a:solidFill>
            <a:srgbClr val="22D3EE">
              <a:alpha val="6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47472" y="1097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SENSORES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56032" y="1408176"/>
            <a:ext cx="2651760" cy="2834640"/>
          </a:xfrm>
          <a:prstGeom prst="rect">
            <a:avLst/>
          </a:prstGeom>
          <a:solidFill>
            <a:srgbClr val="1E1040"/>
          </a:solidFill>
          <a:ln w="19050">
            <a:solidFill>
              <a:srgbClr val="22D3EE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256032" y="1408176"/>
            <a:ext cx="265176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256032" y="157276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256032" y="22128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generator.py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3192" y="260604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+ threading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hilos paralelos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PROB_ERROR = 0.10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01568" y="1097280"/>
            <a:ext cx="2468880" cy="256032"/>
          </a:xfrm>
          <a:prstGeom prst="roundRect">
            <a:avLst>
              <a:gd name="adj" fmla="val 14286"/>
            </a:avLst>
          </a:prstGeom>
          <a:solidFill>
            <a:srgbClr val="A855F7">
              <a:alpha val="60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3401568" y="1097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CONCENTRADOR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310128" y="1408176"/>
            <a:ext cx="2651760" cy="2834640"/>
          </a:xfrm>
          <a:prstGeom prst="rect">
            <a:avLst/>
          </a:prstGeom>
          <a:solidFill>
            <a:srgbClr val="1E1040"/>
          </a:solidFill>
          <a:ln w="19050">
            <a:solidFill>
              <a:srgbClr val="A855F7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3310128" y="1408176"/>
            <a:ext cx="265176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3310128" y="157276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🔀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3310128" y="22128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55F7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main.py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47288" y="260604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+ Pydantic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SQLAlchemy + SQLite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Key auth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55664" y="1097280"/>
            <a:ext cx="2468880" cy="256032"/>
          </a:xfrm>
          <a:prstGeom prst="roundRect">
            <a:avLst>
              <a:gd name="adj" fmla="val 14286"/>
            </a:avLst>
          </a:prstGeom>
          <a:solidFill>
            <a:srgbClr val="E879F9">
              <a:alpha val="60000"/>
            </a:srgbClr>
          </a:solidFill>
          <a:ln w="12700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6455664" y="1097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364224" y="1408176"/>
            <a:ext cx="2651760" cy="2834640"/>
          </a:xfrm>
          <a:prstGeom prst="rect">
            <a:avLst/>
          </a:prstGeom>
          <a:solidFill>
            <a:srgbClr val="1E1040"/>
          </a:solidFill>
          <a:ln w="19050">
            <a:solidFill>
              <a:srgbClr val="E879F9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6364224" y="1408176"/>
            <a:ext cx="2651760" cy="54864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364224" y="157276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364224" y="22128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79F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dashboard.py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01384" y="260604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Streamlit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polling 3s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session_state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944368" y="2834640"/>
            <a:ext cx="347472" cy="0"/>
          </a:xfrm>
          <a:prstGeom prst="line">
            <a:avLst/>
          </a:prstGeom>
          <a:noFill/>
          <a:ln w="25400">
            <a:solidFill>
              <a:srgbClr val="C084F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2852928" y="29992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/ingesta</a:t>
            </a:r>
            <a:endParaRPr lang="en-US" sz="700" dirty="0"/>
          </a:p>
          <a:p>
            <a:pPr marL="0" indent="0" algn="ctr">
              <a:buNone/>
            </a:pPr>
            <a:r>
              <a:rPr lang="en-US" sz="700" i="1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X-Api-Key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998464" y="2834640"/>
            <a:ext cx="347472" cy="0"/>
          </a:xfrm>
          <a:prstGeom prst="line">
            <a:avLst/>
          </a:prstGeom>
          <a:noFill/>
          <a:ln w="25400">
            <a:solidFill>
              <a:srgbClr val="C084FC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5907024" y="29992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/estadisticas</a:t>
            </a:r>
            <a:endParaRPr lang="en-US" sz="700" dirty="0"/>
          </a:p>
          <a:p>
            <a:pPr marL="0" indent="0" algn="ctr">
              <a:buNone/>
            </a:pPr>
            <a:r>
              <a:rPr lang="en-US" sz="700" i="1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X-Api-Key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201168"/>
            <a:ext cx="329184" cy="329184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8577072" y="347472"/>
            <a:ext cx="219456" cy="219456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8211312" y="4187952"/>
            <a:ext cx="402336" cy="402336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11480" y="4069080"/>
            <a:ext cx="274320" cy="274320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480560" y="91440"/>
            <a:ext cx="182880" cy="182880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242048" y="2487168"/>
            <a:ext cx="146304" cy="146304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581912" y="1947672"/>
            <a:ext cx="128016" cy="128016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4005072" y="4462272"/>
            <a:ext cx="219456" cy="219456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01168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 de Datos — Pydantic v2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01168" y="59436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Validación declarativa · Rechazo automático de datos inválidos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274320" y="487375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686800" y="487375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56032" y="1097280"/>
            <a:ext cx="5074920" cy="3611880"/>
          </a:xfrm>
          <a:prstGeom prst="rect">
            <a:avLst/>
          </a:prstGeom>
          <a:solidFill>
            <a:srgbClr val="130D2A"/>
          </a:solidFill>
          <a:ln w="12700">
            <a:solidFill>
              <a:srgbClr val="6D28D9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256032" y="1097280"/>
            <a:ext cx="5074920" cy="256032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347472" y="1152144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548640" y="1152144"/>
            <a:ext cx="118872" cy="118872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749808" y="1152144"/>
            <a:ext cx="118872" cy="1188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93192" y="1399032"/>
            <a:ext cx="4846320" cy="3227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# models.py — Validación con Pydantic v2
</a:t>
            </a:r>
            <a:r>
              <a:rPr lang="en-US" sz="850" dirty="0">
                <a:solidFill>
                  <a:srgbClr val="FCD34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from 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pydantic </a:t>
            </a:r>
            <a:r>
              <a:rPr lang="en-US" sz="850" dirty="0">
                <a:solidFill>
                  <a:srgbClr val="FCD34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import 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BaseModel, Field
</a:t>
            </a:r>
            <a:r>
              <a:rPr lang="en-US" sz="850" dirty="0">
                <a:solidFill>
                  <a:srgbClr val="FCD34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from 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typing </a:t>
            </a:r>
            <a:r>
              <a:rPr lang="en-US" sz="850" dirty="0">
                <a:solidFill>
                  <a:srgbClr val="FCD34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import 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Literal
</a:t>
            </a:r>
            <a:r>
              <a:rPr lang="en-US" sz="850" dirty="0">
                <a:solidFill>
                  <a:srgbClr val="FCD34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class </a:t>
            </a:r>
            <a:r>
              <a:rPr lang="en-US" sz="850" dirty="0">
                <a:solidFill>
                  <a:srgbClr val="22D3E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Lectura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(BaseModel):
</a:t>
            </a:r>
            <a:r>
              <a:rPr lang="en-US" sz="850" dirty="0">
                <a:solidFill>
                  <a:srgbClr val="F0ABFC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id_generador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: int = </a:t>
            </a:r>
            <a:r>
              <a:rPr lang="en-US" sz="850" dirty="0">
                <a:solidFill>
                  <a:srgbClr val="22D3E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Field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(..., ge=</a:t>
            </a:r>
            <a:r>
              <a:rPr lang="en-US" sz="850" dirty="0">
                <a:solidFill>
                  <a:srgbClr val="F8717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, le=</a:t>
            </a:r>
            <a:r>
              <a:rPr lang="en-US" sz="850" dirty="0">
                <a:solidFill>
                  <a:srgbClr val="F8717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10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)
</a:t>
            </a:r>
            <a:r>
              <a:rPr lang="en-US" sz="850" dirty="0">
                <a:solidFill>
                  <a:srgbClr val="F0ABFC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timestamp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: datetime
</a:t>
            </a:r>
            <a:r>
              <a:rPr lang="en-US" sz="850" dirty="0">
                <a:solidFill>
                  <a:srgbClr val="F0ABFC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potencia_kw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: float = </a:t>
            </a:r>
            <a:r>
              <a:rPr lang="en-US" sz="850" dirty="0">
                <a:solidFill>
                  <a:srgbClr val="22D3E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Field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(..., ge=</a:t>
            </a:r>
            <a:r>
              <a:rPr lang="en-US" sz="850" dirty="0">
                <a:solidFill>
                  <a:srgbClr val="F8717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0.0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)
</a:t>
            </a:r>
            <a:r>
              <a:rPr lang="en-US" sz="850" dirty="0">
                <a:solidFill>
                  <a:srgbClr val="F0ABFC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estado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: </a:t>
            </a:r>
            <a:r>
              <a:rPr lang="en-US" sz="850" dirty="0">
                <a:solidFill>
                  <a:srgbClr val="22D3E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Literal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[
</a:t>
            </a:r>
            <a:r>
              <a:rPr lang="en-US" sz="850" dirty="0">
                <a:solidFill>
                  <a:srgbClr val="34D39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"operativo"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,
</a:t>
            </a:r>
            <a:r>
              <a:rPr lang="en-US" sz="850" dirty="0">
                <a:solidFill>
                  <a:srgbClr val="34D39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"mantenimiento"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,
</a:t>
            </a:r>
            <a:r>
              <a:rPr lang="en-US" sz="850" dirty="0">
                <a:solidFill>
                  <a:srgbClr val="34D39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"avería"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
    ]
</a:t>
            </a:r>
            <a:r>
              <a:rPr lang="en-US" sz="850" dirty="0">
                <a:solidFill>
                  <a:srgbClr val="22D3E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@field_validator</a:t>
            </a:r>
            <a:r>
              <a:rPr lang="en-US" sz="850" dirty="0">
                <a:solidFill>
                  <a:srgbClr val="34D39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("timestamp")
</a:t>
            </a:r>
            <a:r>
              <a:rPr lang="en-US" sz="850" dirty="0">
                <a:solidFill>
                  <a:srgbClr val="FCD34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def </a:t>
            </a:r>
            <a:r>
              <a:rPr lang="en-US" sz="850" dirty="0">
                <a:solidFill>
                  <a:srgbClr val="22D3E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check_tz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(cls, v):
</a:t>
            </a:r>
            <a:r>
              <a:rPr lang="en-US" sz="850" dirty="0">
                <a:solidFill>
                  <a:srgbClr val="FCD34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if 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v.tzinfo </a:t>
            </a:r>
            <a:r>
              <a:rPr lang="en-US" sz="850" dirty="0">
                <a:solidFill>
                  <a:srgbClr val="FCD34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is None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:
</a:t>
            </a:r>
            <a:r>
              <a:rPr lang="en-US" sz="850" dirty="0">
                <a:solidFill>
                  <a:srgbClr val="FCD34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    raise </a:t>
            </a:r>
            <a:r>
              <a:rPr lang="en-US" sz="850" dirty="0">
                <a:solidFill>
                  <a:srgbClr val="22D3E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ValueError</a:t>
            </a:r>
            <a:r>
              <a:rPr lang="en-US" sz="850" dirty="0">
                <a:solidFill>
                  <a:srgbClr val="34D39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("Requiere zona horaria")
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return v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559552" y="1143000"/>
            <a:ext cx="3337560" cy="749808"/>
          </a:xfrm>
          <a:prstGeom prst="rect">
            <a:avLst/>
          </a:prstGeom>
          <a:solidFill>
            <a:srgbClr val="1E1040"/>
          </a:solidFill>
          <a:ln w="12700">
            <a:solidFill>
              <a:srgbClr val="6D28D9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5559552" y="1143000"/>
            <a:ext cx="50292" cy="7498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5669280" y="119786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🔢 id_generador: 1–10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69280" y="149047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Field(ge=1, le=10)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Rechaza 0, 11, 99...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559552" y="2011680"/>
            <a:ext cx="3337560" cy="749808"/>
          </a:xfrm>
          <a:prstGeom prst="rect">
            <a:avLst/>
          </a:prstGeom>
          <a:solidFill>
            <a:srgbClr val="1E1040"/>
          </a:solidFill>
          <a:ln w="12700">
            <a:solidFill>
              <a:srgbClr val="6D28D9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5559552" y="2011680"/>
            <a:ext cx="50292" cy="7498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5669280" y="206654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potencia_kw ≥ 0.0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69280" y="23591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Field(ge=0.0)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existe potencia negativa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559552" y="2880360"/>
            <a:ext cx="3337560" cy="749808"/>
          </a:xfrm>
          <a:prstGeom prst="rect">
            <a:avLst/>
          </a:prstGeom>
          <a:solidFill>
            <a:srgbClr val="1E1040"/>
          </a:solidFill>
          <a:ln w="12700">
            <a:solidFill>
              <a:srgbClr val="6D28D9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5559552" y="2880360"/>
            <a:ext cx="50292" cy="749808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5669280" y="29352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🏷️ estado controlado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669280" y="322783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Literal[3 valores]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Rechaza cualquier otro string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559552" y="3749040"/>
            <a:ext cx="3337560" cy="749808"/>
          </a:xfrm>
          <a:prstGeom prst="rect">
            <a:avLst/>
          </a:prstGeom>
          <a:solidFill>
            <a:srgbClr val="1E1040"/>
          </a:solidFill>
          <a:ln w="12700">
            <a:solidFill>
              <a:srgbClr val="6D28D9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7" name="Shape 35"/>
          <p:cNvSpPr/>
          <p:nvPr/>
        </p:nvSpPr>
        <p:spPr>
          <a:xfrm>
            <a:off x="5559552" y="3749040"/>
            <a:ext cx="50292" cy="7498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5669280" y="38039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🕐 timestamp con TZ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669280" y="409651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@field_validator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Lanza ValueError si tzinfo=None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201168"/>
            <a:ext cx="329184" cy="329184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8577072" y="347472"/>
            <a:ext cx="219456" cy="219456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8211312" y="4187952"/>
            <a:ext cx="402336" cy="402336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11480" y="4069080"/>
            <a:ext cx="274320" cy="274320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480560" y="91440"/>
            <a:ext cx="182880" cy="182880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242048" y="2487168"/>
            <a:ext cx="146304" cy="146304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581912" y="1947672"/>
            <a:ext cx="128016" cy="128016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4005072" y="4462272"/>
            <a:ext cx="219456" cy="219456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01168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Concentrador — FastAPI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01168" y="59436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Ingesta · Validación · Persistencia · Seguridad · Agregación SQL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274320" y="487375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686800" y="487375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56032" y="1097280"/>
            <a:ext cx="4754880" cy="3520440"/>
          </a:xfrm>
          <a:prstGeom prst="rect">
            <a:avLst/>
          </a:prstGeom>
          <a:solidFill>
            <a:srgbClr val="130D2A"/>
          </a:solidFill>
          <a:ln w="12700">
            <a:solidFill>
              <a:srgbClr val="6D28D9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256032" y="1097280"/>
            <a:ext cx="4754880" cy="256032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347472" y="1152144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548640" y="1152144"/>
            <a:ext cx="118872" cy="118872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749808" y="1152144"/>
            <a:ext cx="118872" cy="1188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93192" y="1399032"/>
            <a:ext cx="452628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# Seguridad: API Key como Dependency
</a:t>
            </a:r>
            <a:r>
              <a:rPr lang="en-US" sz="850" dirty="0">
                <a:solidFill>
                  <a:srgbClr val="FCD34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def </a:t>
            </a:r>
            <a:r>
              <a:rPr lang="en-US" sz="850" dirty="0">
                <a:solidFill>
                  <a:srgbClr val="22D3E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verificar_api_key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
    x_api_key: str = </a:t>
            </a:r>
            <a:r>
              <a:rPr lang="en-US" sz="850" dirty="0">
                <a:solidFill>
                  <a:srgbClr val="22D3E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Header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(...)
):
</a:t>
            </a:r>
            <a:r>
              <a:rPr lang="en-US" sz="850" dirty="0">
                <a:solidFill>
                  <a:srgbClr val="FCD34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if 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x_api_key != API_KEY:
</a:t>
            </a:r>
            <a:r>
              <a:rPr lang="en-US" sz="850" dirty="0">
                <a:solidFill>
                  <a:srgbClr val="FCD34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raise </a:t>
            </a:r>
            <a:r>
              <a:rPr lang="en-US" sz="850" dirty="0">
                <a:solidFill>
                  <a:srgbClr val="22D3E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HTTPException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(status_code=</a:t>
            </a:r>
            <a:r>
              <a:rPr lang="en-US" sz="850" dirty="0">
                <a:solidFill>
                  <a:srgbClr val="F8717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401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)
</a:t>
            </a:r>
            <a:r>
              <a:rPr lang="en-US" sz="850" dirty="0">
                <a:solidFill>
                  <a:srgbClr val="A78BF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@app.</a:t>
            </a:r>
            <a:r>
              <a:rPr lang="en-US" sz="850" dirty="0">
                <a:solidFill>
                  <a:srgbClr val="E879F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post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("/ingesta", status_code=</a:t>
            </a:r>
            <a:r>
              <a:rPr lang="en-US" sz="850" dirty="0">
                <a:solidFill>
                  <a:srgbClr val="F8717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201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)
</a:t>
            </a:r>
            <a:r>
              <a:rPr lang="en-US" sz="850" dirty="0">
                <a:solidFill>
                  <a:srgbClr val="FCD34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def </a:t>
            </a:r>
            <a:r>
              <a:rPr lang="en-US" sz="850" dirty="0">
                <a:solidFill>
                  <a:srgbClr val="22D3E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ingestar_lectura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
    lectura: </a:t>
            </a:r>
            <a:r>
              <a:rPr lang="en-US" sz="850" dirty="0">
                <a:solidFill>
                  <a:srgbClr val="22D3E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Lectura</a:t>
            </a:r>
            <a:r>
              <a:rPr lang="en-US" sz="850" dirty="0">
                <a:solidFill>
                  <a:srgbClr val="6B728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,  # Pydantic valida aquí
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db: Session = </a:t>
            </a:r>
            <a:r>
              <a:rPr lang="en-US" sz="850" dirty="0">
                <a:solidFill>
                  <a:srgbClr val="22D3E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Depends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(get_db),
):
    registro = </a:t>
            </a:r>
            <a:r>
              <a:rPr lang="en-US" sz="850" dirty="0">
                <a:solidFill>
                  <a:srgbClr val="22D3E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LecturaDB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(**lectura.dict())
</a:t>
            </a:r>
            <a:r>
              <a:rPr lang="en-US" sz="850" dirty="0">
                <a:solidFill>
                  <a:srgbClr val="F0ABFC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db.add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(registro)
</a:t>
            </a:r>
            <a:r>
              <a:rPr lang="en-US" sz="850" dirty="0">
                <a:solidFill>
                  <a:srgbClr val="F0ABFC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db.commit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()
    return {"ok": </a:t>
            </a:r>
            <a:r>
              <a:rPr lang="en-US" sz="850" dirty="0">
                <a:solidFill>
                  <a:srgbClr val="FCD34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True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}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120640" y="1097280"/>
            <a:ext cx="3767328" cy="2423160"/>
          </a:xfrm>
          <a:prstGeom prst="rect">
            <a:avLst/>
          </a:prstGeom>
          <a:solidFill>
            <a:srgbClr val="130D2A"/>
          </a:solidFill>
          <a:ln w="12700">
            <a:solidFill>
              <a:srgbClr val="6D28D9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5120640" y="1097280"/>
            <a:ext cx="3767328" cy="256032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5212080" y="1152144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5413248" y="1152144"/>
            <a:ext cx="118872" cy="118872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5614416" y="1152144"/>
            <a:ext cx="118872" cy="1188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5257800" y="1399032"/>
            <a:ext cx="3538728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78BF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@app.</a:t>
            </a:r>
            <a:r>
              <a:rPr lang="en-US" sz="850" dirty="0">
                <a:solidFill>
                  <a:srgbClr val="22D3E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get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("/estadisticas")
</a:t>
            </a:r>
            <a:r>
              <a:rPr lang="en-US" sz="850" dirty="0">
                <a:solidFill>
                  <a:srgbClr val="FCD34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def </a:t>
            </a:r>
            <a:r>
              <a:rPr lang="en-US" sz="850" dirty="0">
                <a:solidFill>
                  <a:srgbClr val="22D3E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estadisticas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(db = </a:t>
            </a:r>
            <a:r>
              <a:rPr lang="en-US" sz="850" dirty="0">
                <a:solidFill>
                  <a:srgbClr val="22D3E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Depends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(get_db)):
    hace_1min = </a:t>
            </a:r>
            <a:r>
              <a:rPr lang="en-US" sz="850" dirty="0">
                <a:solidFill>
                  <a:srgbClr val="22D3E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datetime.utcnow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()
               - timedelta(minutes=</a:t>
            </a:r>
            <a:r>
              <a:rPr lang="en-US" sz="850" dirty="0">
                <a:solidFill>
                  <a:srgbClr val="F8717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)
    return db.query(
</a:t>
            </a:r>
            <a:r>
              <a:rPr lang="en-US" sz="850" dirty="0">
                <a:solidFill>
                  <a:srgbClr val="22D3E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func</a:t>
            </a:r>
            <a:r>
              <a:rPr lang="en-US" sz="850" dirty="0">
                <a:solidFill>
                  <a:srgbClr val="F0ABFC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.avg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(LecturaDB.potencia_kw),
</a:t>
            </a:r>
            <a:r>
              <a:rPr lang="en-US" sz="850" dirty="0">
                <a:solidFill>
                  <a:srgbClr val="22D3E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func</a:t>
            </a:r>
            <a:r>
              <a:rPr lang="en-US" sz="850" dirty="0">
                <a:solidFill>
                  <a:srgbClr val="F0ABFC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.sum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(LecturaDB.potencia_kw),
</a:t>
            </a:r>
            <a:r>
              <a:rPr lang="en-US" sz="850" dirty="0">
                <a:solidFill>
                  <a:srgbClr val="22D3E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func</a:t>
            </a:r>
            <a:r>
              <a:rPr lang="en-US" sz="850" dirty="0">
                <a:solidFill>
                  <a:srgbClr val="F0ABFC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.count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(LecturaDB.id),
    ).filter(
        LecturaDB.timestamp &gt;= hace_1min
    ).one()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120640" y="3675888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F87171">
              <a:alpha val="80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5120640" y="36758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422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833872" y="370332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Rechazo automático Pydantic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120640" y="4005072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A855F7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5120640" y="4005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Depends()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33872" y="403250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Inyección de dependencias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120640" y="4334256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22D3EE">
              <a:alpha val="8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5120640" y="433425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func.avg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833872" y="436168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Agregación SQL ventana 1min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201168"/>
            <a:ext cx="329184" cy="329184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8577072" y="347472"/>
            <a:ext cx="219456" cy="219456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8211312" y="4187952"/>
            <a:ext cx="402336" cy="402336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11480" y="4069080"/>
            <a:ext cx="274320" cy="274320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480560" y="91440"/>
            <a:ext cx="182880" cy="182880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242048" y="2487168"/>
            <a:ext cx="146304" cy="146304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581912" y="1947672"/>
            <a:ext cx="128016" cy="128016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4005072" y="4462272"/>
            <a:ext cx="219456" cy="219456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01168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Generadores — Datos Sintéticos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01168" y="59436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aerogeneradores · threading · PROB_ERROR = 0.10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274320" y="487375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686800" y="487375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56032" y="1097280"/>
            <a:ext cx="4937760" cy="3611880"/>
          </a:xfrm>
          <a:prstGeom prst="rect">
            <a:avLst/>
          </a:prstGeom>
          <a:solidFill>
            <a:srgbClr val="130D2A"/>
          </a:solidFill>
          <a:ln w="12700">
            <a:solidFill>
              <a:srgbClr val="6D28D9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256032" y="1097280"/>
            <a:ext cx="4937760" cy="256032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347472" y="1152144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548640" y="1152144"/>
            <a:ext cx="118872" cy="118872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749808" y="1152144"/>
            <a:ext cx="118872" cy="1188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93192" y="1399032"/>
            <a:ext cx="4709160" cy="3227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PROB_ERROR = </a:t>
            </a:r>
            <a:r>
              <a:rPr lang="en-US" sz="850" dirty="0">
                <a:solidFill>
                  <a:srgbClr val="F8717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0.1
</a:t>
            </a:r>
            <a:r>
              <a:rPr lang="en-US" sz="850" dirty="0">
                <a:solidFill>
                  <a:srgbClr val="FCD34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def </a:t>
            </a:r>
            <a:r>
              <a:rPr lang="en-US" sz="850" dirty="0">
                <a:solidFill>
                  <a:srgbClr val="22D3E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generar_valida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(id_gen):
</a:t>
            </a:r>
            <a:r>
              <a:rPr lang="en-US" sz="850" dirty="0">
                <a:solidFill>
                  <a:srgbClr val="6B728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# Distribución gaussiana N(1200, 400)
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kw = max(</a:t>
            </a:r>
            <a:r>
              <a:rPr lang="en-US" sz="850" dirty="0">
                <a:solidFill>
                  <a:srgbClr val="F8717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, min(</a:t>
            </a:r>
            <a:r>
              <a:rPr lang="en-US" sz="850" dirty="0">
                <a:solidFill>
                  <a:srgbClr val="F8717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2000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, random.gauss(</a:t>
            </a:r>
            <a:r>
              <a:rPr lang="en-US" sz="850" dirty="0">
                <a:solidFill>
                  <a:srgbClr val="F8717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1200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, </a:t>
            </a:r>
            <a:r>
              <a:rPr lang="en-US" sz="850" dirty="0">
                <a:solidFill>
                  <a:srgbClr val="F8717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400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)))
</a:t>
            </a:r>
            <a:r>
              <a:rPr lang="en-US" sz="850" dirty="0">
                <a:solidFill>
                  <a:srgbClr val="FCD34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def </a:t>
            </a:r>
            <a:r>
              <a:rPr lang="en-US" sz="850" dirty="0">
                <a:solidFill>
                  <a:srgbClr val="22D3E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bucle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(id_gen):
</a:t>
            </a:r>
            <a:r>
              <a:rPr lang="en-US" sz="850" dirty="0">
                <a:solidFill>
                  <a:srgbClr val="FCD34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while True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:
        es_error = random.random() &lt; </a:t>
            </a:r>
            <a:r>
              <a:rPr lang="en-US" sz="850" dirty="0">
                <a:solidFill>
                  <a:srgbClr val="F8717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PROB_ERROR
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payload = (
</a:t>
            </a:r>
            <a:r>
              <a:rPr lang="en-US" sz="850" dirty="0">
                <a:solidFill>
                  <a:srgbClr val="F8717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    generar_erronea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(id_gen)
</a:t>
            </a:r>
            <a:r>
              <a:rPr lang="en-US" sz="850" dirty="0">
                <a:solidFill>
                  <a:srgbClr val="FCD34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    if 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es_error else
</a:t>
            </a:r>
            <a:r>
              <a:rPr lang="en-US" sz="850" dirty="0">
                <a:solidFill>
                  <a:srgbClr val="34D39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    generar_valida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(id_gen)
        )
</a:t>
            </a:r>
            <a:r>
              <a:rPr lang="en-US" sz="850" dirty="0">
                <a:solidFill>
                  <a:srgbClr val="F0ABFC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requests.post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(URL, json=payload)
</a:t>
            </a:r>
            <a:r>
              <a:rPr lang="en-US" sz="850" dirty="0">
                <a:solidFill>
                  <a:srgbClr val="F0ABFC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time.sleep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</a:t>
            </a:r>
            <a:r>
              <a:rPr lang="en-US" sz="850" dirty="0">
                <a:solidFill>
                  <a:srgbClr val="F8717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2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)
</a:t>
            </a:r>
            <a:r>
              <a:rPr lang="en-US" sz="850" dirty="0">
                <a:solidFill>
                  <a:srgbClr val="6B728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# Lanzar 10 generadores en hilos
</a:t>
            </a:r>
            <a:r>
              <a:rPr lang="en-US" sz="850" dirty="0">
                <a:solidFill>
                  <a:srgbClr val="FCD34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for 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 in range(</a:t>
            </a:r>
            <a:r>
              <a:rPr lang="en-US" sz="850" dirty="0">
                <a:solidFill>
                  <a:srgbClr val="F8717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, </a:t>
            </a:r>
            <a:r>
              <a:rPr lang="en-US" sz="850" dirty="0">
                <a:solidFill>
                  <a:srgbClr val="F8717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11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):
</a:t>
            </a:r>
            <a:r>
              <a:rPr lang="en-US" sz="850" dirty="0">
                <a:solidFill>
                  <a:srgbClr val="22D3E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Thread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(target=bucle, args=(i,), daemon=</a:t>
            </a:r>
            <a:r>
              <a:rPr lang="en-US" sz="850" dirty="0">
                <a:solidFill>
                  <a:srgbClr val="FCD34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True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).start()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349240" y="11155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Tipos de error inyectados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49240" y="1572768"/>
            <a:ext cx="3566160" cy="594360"/>
          </a:xfrm>
          <a:prstGeom prst="rect">
            <a:avLst/>
          </a:prstGeom>
          <a:solidFill>
            <a:srgbClr val="1E1040"/>
          </a:solidFill>
          <a:ln w="12700">
            <a:solidFill>
              <a:srgbClr val="6D28D9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5349240" y="1572768"/>
            <a:ext cx="50292" cy="5943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5486400" y="162763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717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potencia_string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0" y="18928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Campo: potencia_kw  →  valor: "MUCHO_VIENTO"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349240" y="2286000"/>
            <a:ext cx="3566160" cy="594360"/>
          </a:xfrm>
          <a:prstGeom prst="rect">
            <a:avLst/>
          </a:prstGeom>
          <a:solidFill>
            <a:srgbClr val="1E1040"/>
          </a:solidFill>
          <a:ln w="12700">
            <a:solidFill>
              <a:srgbClr val="6D28D9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5349240" y="2286000"/>
            <a:ext cx="50292" cy="5943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5486400" y="234086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id_fuera_rango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0" y="2606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Campo: id_generador  →  valor: 0, 11, 99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349240" y="2999232"/>
            <a:ext cx="3566160" cy="594360"/>
          </a:xfrm>
          <a:prstGeom prst="rect">
            <a:avLst/>
          </a:prstGeom>
          <a:solidFill>
            <a:srgbClr val="1E1040"/>
          </a:solidFill>
          <a:ln w="12700">
            <a:solidFill>
              <a:srgbClr val="6D28D9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5349240" y="2999232"/>
            <a:ext cx="50292" cy="594360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5486400" y="305409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79F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estado_invalido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0" y="33192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Campo: estado  →  valor: "girando_rapido"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349240" y="3712464"/>
            <a:ext cx="3566160" cy="594360"/>
          </a:xfrm>
          <a:prstGeom prst="rect">
            <a:avLst/>
          </a:prstGeom>
          <a:solidFill>
            <a:srgbClr val="1E1040"/>
          </a:solidFill>
          <a:ln w="12700">
            <a:solidFill>
              <a:srgbClr val="6D28D9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8" name="Shape 36"/>
          <p:cNvSpPr/>
          <p:nvPr/>
        </p:nvSpPr>
        <p:spPr>
          <a:xfrm>
            <a:off x="5349240" y="3712464"/>
            <a:ext cx="50292" cy="59436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5486400" y="376732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84FC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timestamp_sin_tz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0" y="40325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Campo: timestamp  →  valor: datetime.now()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349240" y="4553712"/>
            <a:ext cx="3566160" cy="182880"/>
          </a:xfrm>
          <a:prstGeom prst="roundRect">
            <a:avLst>
              <a:gd name="adj" fmla="val 20000"/>
            </a:avLst>
          </a:prstGeom>
          <a:solidFill>
            <a:srgbClr val="F87171">
              <a:alpha val="40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5349240" y="45537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responde 422 Unprocessable Entity a cada error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201168"/>
            <a:ext cx="329184" cy="329184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8577072" y="347472"/>
            <a:ext cx="219456" cy="219456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8211312" y="4187952"/>
            <a:ext cx="402336" cy="402336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11480" y="4069080"/>
            <a:ext cx="274320" cy="274320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480560" y="91440"/>
            <a:ext cx="182880" cy="182880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242048" y="2487168"/>
            <a:ext cx="146304" cy="146304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581912" y="1947672"/>
            <a:ext cx="128016" cy="128016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4005072" y="4462272"/>
            <a:ext cx="219456" cy="219456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01168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Persistencia — SQLAlchemy + SQLite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01168" y="59436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ORM · Modelo relacional · Sesión por petición con Depends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274320" y="487375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686800" y="487375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56032" y="1097280"/>
            <a:ext cx="5074920" cy="3611880"/>
          </a:xfrm>
          <a:prstGeom prst="rect">
            <a:avLst/>
          </a:prstGeom>
          <a:solidFill>
            <a:srgbClr val="130D2A"/>
          </a:solidFill>
          <a:ln w="12700">
            <a:solidFill>
              <a:srgbClr val="6D28D9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256032" y="1097280"/>
            <a:ext cx="5074920" cy="256032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347472" y="1152144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548640" y="1152144"/>
            <a:ext cx="118872" cy="118872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749808" y="1152144"/>
            <a:ext cx="118872" cy="1188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93192" y="1399032"/>
            <a:ext cx="4846320" cy="3227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# Definición del modelo ORM
</a:t>
            </a:r>
            <a:r>
              <a:rPr lang="en-US" sz="850" dirty="0">
                <a:solidFill>
                  <a:srgbClr val="FCD34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class </a:t>
            </a:r>
            <a:r>
              <a:rPr lang="en-US" sz="850" dirty="0">
                <a:solidFill>
                  <a:srgbClr val="22D3E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LecturaDB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(Base):
</a:t>
            </a:r>
            <a:r>
              <a:rPr lang="en-US" sz="850" dirty="0">
                <a:solidFill>
                  <a:srgbClr val="34D39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__tablename__ = "lecturas"
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id          = Column(</a:t>
            </a:r>
            <a:r>
              <a:rPr lang="en-US" sz="850" dirty="0">
                <a:solidFill>
                  <a:srgbClr val="22D3E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Integer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, primary_key=</a:t>
            </a:r>
            <a:r>
              <a:rPr lang="en-US" sz="850" dirty="0">
                <a:solidFill>
                  <a:srgbClr val="FCD34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True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)
    id_generador = Column(</a:t>
            </a:r>
            <a:r>
              <a:rPr lang="en-US" sz="850" dirty="0">
                <a:solidFill>
                  <a:srgbClr val="22D3E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Integer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, nullable=</a:t>
            </a:r>
            <a:r>
              <a:rPr lang="en-US" sz="850" dirty="0">
                <a:solidFill>
                  <a:srgbClr val="FCD34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False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)
    timestamp   = Column(</a:t>
            </a:r>
            <a:r>
              <a:rPr lang="en-US" sz="850" dirty="0">
                <a:solidFill>
                  <a:srgbClr val="22D3E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DateTime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, nullable=</a:t>
            </a:r>
            <a:r>
              <a:rPr lang="en-US" sz="850" dirty="0">
                <a:solidFill>
                  <a:srgbClr val="FCD34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False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)
    potencia_kw = Column(</a:t>
            </a:r>
            <a:r>
              <a:rPr lang="en-US" sz="850" dirty="0">
                <a:solidFill>
                  <a:srgbClr val="22D3E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Float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, nullable=</a:t>
            </a:r>
            <a:r>
              <a:rPr lang="en-US" sz="850" dirty="0">
                <a:solidFill>
                  <a:srgbClr val="FCD34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False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)
    estado      = Column(</a:t>
            </a:r>
            <a:r>
              <a:rPr lang="en-US" sz="850" dirty="0">
                <a:solidFill>
                  <a:srgbClr val="22D3E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String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, nullable=</a:t>
            </a:r>
            <a:r>
              <a:rPr lang="en-US" sz="850" dirty="0">
                <a:solidFill>
                  <a:srgbClr val="FCD34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False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)
</a:t>
            </a:r>
            <a:r>
              <a:rPr lang="en-US" sz="850" dirty="0">
                <a:solidFill>
                  <a:srgbClr val="6B728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# Sesión por petición (sin leaks)
</a:t>
            </a:r>
            <a:r>
              <a:rPr lang="en-US" sz="850" dirty="0">
                <a:solidFill>
                  <a:srgbClr val="FCD34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def </a:t>
            </a:r>
            <a:r>
              <a:rPr lang="en-US" sz="850" dirty="0">
                <a:solidFill>
                  <a:srgbClr val="22D3E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get_db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():
    db = </a:t>
            </a:r>
            <a:r>
              <a:rPr lang="en-US" sz="850" dirty="0">
                <a:solidFill>
                  <a:srgbClr val="22D3E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SessionLocal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()
</a:t>
            </a:r>
            <a:r>
              <a:rPr lang="en-US" sz="850" dirty="0">
                <a:solidFill>
                  <a:srgbClr val="FCD34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try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:
        yield db
</a:t>
            </a:r>
            <a:r>
              <a:rPr lang="en-US" sz="850" dirty="0">
                <a:solidFill>
                  <a:srgbClr val="FCD34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finally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db.close()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559552" y="10972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Tabla SQLite: lecturas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59552" y="1508760"/>
            <a:ext cx="3337560" cy="438912"/>
          </a:xfrm>
          <a:prstGeom prst="rect">
            <a:avLst/>
          </a:prstGeom>
          <a:solidFill>
            <a:srgbClr val="1A1033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5559552" y="1508760"/>
            <a:ext cx="50292" cy="43891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5669280" y="16002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D34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223760" y="16002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8BF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INTEGER PK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559552" y="1993392"/>
            <a:ext cx="3337560" cy="438912"/>
          </a:xfrm>
          <a:prstGeom prst="rect">
            <a:avLst/>
          </a:prstGeom>
          <a:solidFill>
            <a:srgbClr val="1E1040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5559552" y="1993392"/>
            <a:ext cx="50292" cy="43891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5669280" y="2084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ABFC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id_generador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223760" y="20848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8BF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INTEGER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559552" y="2478024"/>
            <a:ext cx="3337560" cy="438912"/>
          </a:xfrm>
          <a:prstGeom prst="rect">
            <a:avLst/>
          </a:prstGeom>
          <a:solidFill>
            <a:srgbClr val="1E1040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5559552" y="2478024"/>
            <a:ext cx="50292" cy="43891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5669280" y="25694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ABFC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timestamp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223760" y="25694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8BF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DATETIME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59552" y="2962656"/>
            <a:ext cx="3337560" cy="438912"/>
          </a:xfrm>
          <a:prstGeom prst="rect">
            <a:avLst/>
          </a:prstGeom>
          <a:solidFill>
            <a:srgbClr val="1E1040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Shape 36"/>
          <p:cNvSpPr/>
          <p:nvPr/>
        </p:nvSpPr>
        <p:spPr>
          <a:xfrm>
            <a:off x="5559552" y="2962656"/>
            <a:ext cx="50292" cy="43891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5669280" y="30540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ABFC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potencia_kw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223760" y="305409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8BF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FLOAT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559552" y="3447288"/>
            <a:ext cx="3337560" cy="438912"/>
          </a:xfrm>
          <a:prstGeom prst="rect">
            <a:avLst/>
          </a:prstGeom>
          <a:solidFill>
            <a:srgbClr val="1E1040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5559552" y="3447288"/>
            <a:ext cx="50292" cy="43891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5669280" y="35387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ABFC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estado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223760" y="35387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8BF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VARCHAR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559552" y="4069080"/>
            <a:ext cx="3337560" cy="566928"/>
          </a:xfrm>
          <a:prstGeom prst="roundRect">
            <a:avLst>
              <a:gd name="adj" fmla="val 9677"/>
            </a:avLst>
          </a:prstGeom>
          <a:solidFill>
            <a:srgbClr val="1E1040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44"/>
          <p:cNvSpPr/>
          <p:nvPr/>
        </p:nvSpPr>
        <p:spPr>
          <a:xfrm>
            <a:off x="5650992" y="4114800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 SQLite no guarda zona horaria.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Solución: convertir a UTC naive antes de persistir.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201168"/>
            <a:ext cx="329184" cy="329184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8577072" y="347472"/>
            <a:ext cx="219456" cy="219456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8211312" y="4187952"/>
            <a:ext cx="402336" cy="402336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11480" y="4069080"/>
            <a:ext cx="274320" cy="274320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480560" y="91440"/>
            <a:ext cx="182880" cy="182880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242048" y="2487168"/>
            <a:ext cx="146304" cy="146304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581912" y="1947672"/>
            <a:ext cx="128016" cy="128016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4005072" y="4462272"/>
            <a:ext cx="219456" cy="219456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01168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— Streamlit en tiempo real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01168" y="59436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Polling cada 3s · session_state · Gráfico · Semáforo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274320" y="487375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686800" y="487375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56032" y="1097280"/>
            <a:ext cx="5074920" cy="3611880"/>
          </a:xfrm>
          <a:prstGeom prst="rect">
            <a:avLst/>
          </a:prstGeom>
          <a:solidFill>
            <a:srgbClr val="130D2A"/>
          </a:solidFill>
          <a:ln w="12700">
            <a:solidFill>
              <a:srgbClr val="6D28D9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256032" y="1097280"/>
            <a:ext cx="5074920" cy="256032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347472" y="1152144"/>
            <a:ext cx="118872" cy="11887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548640" y="1152144"/>
            <a:ext cx="118872" cy="118872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749808" y="1152144"/>
            <a:ext cx="118872" cy="1188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93192" y="1399032"/>
            <a:ext cx="4846320" cy="3227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# Historial en memoria entre refresos
</a:t>
            </a:r>
            <a:r>
              <a:rPr lang="en-US" sz="850" dirty="0">
                <a:solidFill>
                  <a:srgbClr val="FCD34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if 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"historial" not in </a:t>
            </a:r>
            <a:r>
              <a:rPr lang="en-US" sz="850" dirty="0">
                <a:solidFill>
                  <a:srgbClr val="22D3E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st.session_state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:
</a:t>
            </a:r>
            <a:r>
              <a:rPr lang="en-US" sz="850" dirty="0">
                <a:solidFill>
                  <a:srgbClr val="22D3E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st.session_state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.historial = </a:t>
            </a:r>
            <a:r>
              <a:rPr lang="en-US" sz="850" dirty="0">
                <a:solidFill>
                  <a:srgbClr val="22D3E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deque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(maxlen=</a:t>
            </a:r>
            <a:r>
              <a:rPr lang="en-US" sz="850" dirty="0">
                <a:solidFill>
                  <a:srgbClr val="F8717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30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)
</a:t>
            </a:r>
            <a:r>
              <a:rPr lang="en-US" sz="850" dirty="0">
                <a:solidFill>
                  <a:srgbClr val="FCD34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while True</a:t>
            </a:r>
            <a:r>
              <a:rPr lang="en-US" sz="850" dirty="0">
                <a:solidFill>
                  <a:srgbClr val="6B7280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:  # Bucle de refresco
</a:t>
            </a:r>
            <a:r>
              <a:rPr lang="en-US" sz="850" dirty="0">
                <a:solidFill>
                  <a:srgbClr val="F0ABFC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datos = requests.get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
</a:t>
            </a:r>
            <a:r>
              <a:rPr lang="en-US" sz="850" dirty="0">
                <a:solidFill>
                  <a:srgbClr val="34D39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"http://localhost:8000/estadisticas",
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headers=HEADERS
    ).json()
    media = datos[</a:t>
            </a:r>
            <a:r>
              <a:rPr lang="en-US" sz="850" dirty="0">
                <a:solidFill>
                  <a:srgbClr val="34D39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"parque"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][</a:t>
            </a:r>
            <a:r>
              <a:rPr lang="en-US" sz="850" dirty="0">
                <a:solidFill>
                  <a:srgbClr val="34D39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"media_potencia_kw"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]
</a:t>
            </a:r>
            <a:r>
              <a:rPr lang="en-US" sz="850" dirty="0">
                <a:solidFill>
                  <a:srgbClr val="22D3E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st.session_state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.historial.append(media)
</a:t>
            </a:r>
            <a:r>
              <a:rPr lang="en-US" sz="850" dirty="0">
                <a:solidFill>
                  <a:srgbClr val="F0ABFC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st.metric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("Media parque", f"</a:t>
            </a:r>
            <a:r>
              <a:rPr lang="en-US" sz="850" dirty="0">
                <a:solidFill>
                  <a:srgbClr val="22D3EE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{media:.1f}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kW")
</a:t>
            </a:r>
            <a:r>
              <a:rPr lang="en-US" sz="850" dirty="0">
                <a:solidFill>
                  <a:srgbClr val="F0ABFC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st.line_chart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(historial_df)
</a:t>
            </a:r>
            <a:r>
              <a:rPr lang="en-US" sz="850" dirty="0">
                <a:solidFill>
                  <a:srgbClr val="F0ABFC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time.sleep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</a:t>
            </a:r>
            <a:r>
              <a:rPr lang="en-US" sz="850" dirty="0">
                <a:solidFill>
                  <a:srgbClr val="F8717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3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)
</a:t>
            </a:r>
            <a:r>
              <a:rPr lang="en-US" sz="850" dirty="0">
                <a:solidFill>
                  <a:srgbClr val="F0ABFC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st.rerun</a:t>
            </a:r>
            <a:r>
              <a:rPr lang="en-US" sz="85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()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532120" y="1097280"/>
            <a:ext cx="3364992" cy="3611880"/>
          </a:xfrm>
          <a:prstGeom prst="rect">
            <a:avLst/>
          </a:prstGeom>
          <a:solidFill>
            <a:srgbClr val="0E0B1A"/>
          </a:solidFill>
          <a:ln w="12700">
            <a:solidFill>
              <a:srgbClr val="6D28D9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5532120" y="1097280"/>
            <a:ext cx="3364992" cy="27432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5577840" y="111556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🌬️  Dashboard — Parque Eólico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577840" y="1426464"/>
            <a:ext cx="1060704" cy="594360"/>
          </a:xfrm>
          <a:prstGeom prst="rect">
            <a:avLst/>
          </a:prstGeom>
          <a:solidFill>
            <a:srgbClr val="1A1033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5623560" y="1453896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Media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5623560" y="166420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1.145 kW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693408" y="1426464"/>
            <a:ext cx="1060704" cy="594360"/>
          </a:xfrm>
          <a:prstGeom prst="rect">
            <a:avLst/>
          </a:prstGeom>
          <a:solidFill>
            <a:srgbClr val="1A1033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6739128" y="1453896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🔋 Total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6739128" y="166420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8.234 kW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808976" y="1426464"/>
            <a:ext cx="1060704" cy="594360"/>
          </a:xfrm>
          <a:prstGeom prst="rect">
            <a:avLst/>
          </a:prstGeom>
          <a:solidFill>
            <a:srgbClr val="1A1033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7854696" y="1453896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Cap.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7854696" y="166420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57,2 %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577840" y="2075688"/>
            <a:ext cx="3255264" cy="1188720"/>
          </a:xfrm>
          <a:prstGeom prst="rect">
            <a:avLst/>
          </a:prstGeom>
          <a:solidFill>
            <a:srgbClr val="1A1033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5623560" y="21031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Evolución media kW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5623560" y="2804160"/>
            <a:ext cx="382254" cy="0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Shape 37"/>
          <p:cNvSpPr/>
          <p:nvPr/>
        </p:nvSpPr>
        <p:spPr>
          <a:xfrm>
            <a:off x="5952744" y="2609850"/>
            <a:ext cx="418909" cy="0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Shape 38"/>
          <p:cNvSpPr/>
          <p:nvPr/>
        </p:nvSpPr>
        <p:spPr>
          <a:xfrm>
            <a:off x="6281928" y="2868930"/>
            <a:ext cx="461780" cy="0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Shape 39"/>
          <p:cNvSpPr/>
          <p:nvPr/>
        </p:nvSpPr>
        <p:spPr>
          <a:xfrm>
            <a:off x="6611112" y="2545080"/>
            <a:ext cx="364041" cy="0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6940296" y="2700528"/>
            <a:ext cx="338235" cy="0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Shape 41"/>
          <p:cNvSpPr/>
          <p:nvPr/>
        </p:nvSpPr>
        <p:spPr>
          <a:xfrm>
            <a:off x="7269480" y="2622804"/>
            <a:ext cx="349220" cy="0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Shape 42"/>
          <p:cNvSpPr/>
          <p:nvPr/>
        </p:nvSpPr>
        <p:spPr>
          <a:xfrm>
            <a:off x="7598664" y="2739390"/>
            <a:ext cx="388999" cy="0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Shape 43"/>
          <p:cNvSpPr/>
          <p:nvPr/>
        </p:nvSpPr>
        <p:spPr>
          <a:xfrm>
            <a:off x="7927848" y="2532126"/>
            <a:ext cx="358701" cy="0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Shape 44"/>
          <p:cNvSpPr/>
          <p:nvPr/>
        </p:nvSpPr>
        <p:spPr>
          <a:xfrm>
            <a:off x="8257032" y="2674620"/>
            <a:ext cx="338235" cy="0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Shape 45"/>
          <p:cNvSpPr/>
          <p:nvPr/>
        </p:nvSpPr>
        <p:spPr>
          <a:xfrm>
            <a:off x="5577840" y="3310128"/>
            <a:ext cx="3255264" cy="1234440"/>
          </a:xfrm>
          <a:prstGeom prst="rect">
            <a:avLst/>
          </a:prstGeom>
          <a:solidFill>
            <a:srgbClr val="1A1033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Text 46"/>
          <p:cNvSpPr/>
          <p:nvPr/>
        </p:nvSpPr>
        <p:spPr>
          <a:xfrm>
            <a:off x="5623560" y="33375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A78BFA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Generador  Media kW  Lecturas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5623560" y="35661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Turbina 01  1.203  5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623560" y="383133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Turbina 02  986  5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623560" y="409651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Turbina 03  1.456  5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201168"/>
            <a:ext cx="329184" cy="329184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8577072" y="347472"/>
            <a:ext cx="219456" cy="219456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8211312" y="4187952"/>
            <a:ext cx="402336" cy="402336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11480" y="4069080"/>
            <a:ext cx="274320" cy="274320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480560" y="91440"/>
            <a:ext cx="182880" cy="182880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242048" y="2487168"/>
            <a:ext cx="146304" cy="146304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581912" y="1947672"/>
            <a:ext cx="128016" cy="128016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4005072" y="4462272"/>
            <a:ext cx="219456" cy="219456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01168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Flujo Completo — Dato válido vs. inválido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01168" y="59436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Ciclo de vida de una lectura a través del sistema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274320" y="487375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686800" y="487375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56032" y="1097280"/>
            <a:ext cx="1572768" cy="1691640"/>
          </a:xfrm>
          <a:prstGeom prst="rect">
            <a:avLst/>
          </a:prstGeom>
          <a:solidFill>
            <a:srgbClr val="1E1040"/>
          </a:solidFill>
          <a:ln w="19050">
            <a:solidFill>
              <a:srgbClr val="22D3EE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256032" y="1097280"/>
            <a:ext cx="1572768" cy="4114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256032" y="11887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56032" y="16642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Generador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01752" y="1975104"/>
            <a:ext cx="1481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 payload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N(1200,400) kW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084832" y="1097280"/>
            <a:ext cx="1572768" cy="1691640"/>
          </a:xfrm>
          <a:prstGeom prst="rect">
            <a:avLst/>
          </a:prstGeom>
          <a:solidFill>
            <a:srgbClr val="1E1040"/>
          </a:solidFill>
          <a:ln w="19050">
            <a:solidFill>
              <a:srgbClr val="C084FC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2084832" y="1097280"/>
            <a:ext cx="1572768" cy="41148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2084832" y="11887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📤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084832" y="16642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POST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130552" y="1975104"/>
            <a:ext cx="1481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X-Api-Key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body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913632" y="1097280"/>
            <a:ext cx="1572768" cy="1691640"/>
          </a:xfrm>
          <a:prstGeom prst="rect">
            <a:avLst/>
          </a:prstGeom>
          <a:solidFill>
            <a:srgbClr val="1E1040"/>
          </a:solidFill>
          <a:ln w="19050">
            <a:solidFill>
              <a:srgbClr val="A855F7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3913632" y="1097280"/>
            <a:ext cx="1572768" cy="411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3913632" y="11887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913632" y="16642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Key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959352" y="1975104"/>
            <a:ext cx="1481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742432" y="1097280"/>
            <a:ext cx="1572768" cy="1691640"/>
          </a:xfrm>
          <a:prstGeom prst="rect">
            <a:avLst/>
          </a:prstGeom>
          <a:solidFill>
            <a:srgbClr val="1E1040"/>
          </a:solidFill>
          <a:ln w="19050">
            <a:solidFill>
              <a:srgbClr val="34D399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5742432" y="1097280"/>
            <a:ext cx="1572768" cy="4114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5742432" y="11887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742432" y="16642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Pydantic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788152" y="1975104"/>
            <a:ext cx="1481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 tipos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 restricciones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571232" y="1097280"/>
            <a:ext cx="1572768" cy="1691640"/>
          </a:xfrm>
          <a:prstGeom prst="rect">
            <a:avLst/>
          </a:prstGeom>
          <a:solidFill>
            <a:srgbClr val="1E1040"/>
          </a:solidFill>
          <a:ln w="19050">
            <a:solidFill>
              <a:srgbClr val="FCD34D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9" name="Shape 37"/>
          <p:cNvSpPr/>
          <p:nvPr/>
        </p:nvSpPr>
        <p:spPr>
          <a:xfrm>
            <a:off x="7571232" y="1097280"/>
            <a:ext cx="1572768" cy="4114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7571232" y="11887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571232" y="16642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616952" y="1975104"/>
            <a:ext cx="1481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solo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es válido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847088" y="1938528"/>
            <a:ext cx="219456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44" name="Shape 42"/>
          <p:cNvSpPr/>
          <p:nvPr/>
        </p:nvSpPr>
        <p:spPr>
          <a:xfrm>
            <a:off x="3675888" y="1938528"/>
            <a:ext cx="219456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45" name="Shape 43"/>
          <p:cNvSpPr/>
          <p:nvPr/>
        </p:nvSpPr>
        <p:spPr>
          <a:xfrm>
            <a:off x="5504688" y="1938528"/>
            <a:ext cx="219456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46" name="Shape 44"/>
          <p:cNvSpPr/>
          <p:nvPr/>
        </p:nvSpPr>
        <p:spPr>
          <a:xfrm>
            <a:off x="7333488" y="1938528"/>
            <a:ext cx="219456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47" name="Shape 45"/>
          <p:cNvSpPr/>
          <p:nvPr/>
        </p:nvSpPr>
        <p:spPr>
          <a:xfrm>
            <a:off x="256032" y="2907792"/>
            <a:ext cx="8613648" cy="5029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Text 46"/>
          <p:cNvSpPr/>
          <p:nvPr/>
        </p:nvSpPr>
        <p:spPr>
          <a:xfrm>
            <a:off x="256032" y="3017520"/>
            <a:ext cx="8613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Camino del dato INVÁLIDO (PROB_ERROR = 10%)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56032" y="3383280"/>
            <a:ext cx="2148840" cy="658368"/>
          </a:xfrm>
          <a:prstGeom prst="roundRect">
            <a:avLst>
              <a:gd name="adj" fmla="val 8333"/>
            </a:avLst>
          </a:prstGeom>
          <a:solidFill>
            <a:srgbClr val="1E1040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/>
          <p:nvPr/>
        </p:nvSpPr>
        <p:spPr>
          <a:xfrm>
            <a:off x="329184" y="3438144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Generador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inyecta error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633472" y="3383280"/>
            <a:ext cx="2148840" cy="658368"/>
          </a:xfrm>
          <a:prstGeom prst="roundRect">
            <a:avLst>
              <a:gd name="adj" fmla="val 8333"/>
            </a:avLst>
          </a:prstGeom>
          <a:solidFill>
            <a:srgbClr val="1E1040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Text 50"/>
          <p:cNvSpPr/>
          <p:nvPr/>
        </p:nvSpPr>
        <p:spPr>
          <a:xfrm>
            <a:off x="2706624" y="3438144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enviado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(dato corrupto)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010912" y="3383280"/>
            <a:ext cx="2148840" cy="658368"/>
          </a:xfrm>
          <a:prstGeom prst="roundRect">
            <a:avLst>
              <a:gd name="adj" fmla="val 8333"/>
            </a:avLst>
          </a:prstGeom>
          <a:solidFill>
            <a:srgbClr val="1E1040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Text 52"/>
          <p:cNvSpPr/>
          <p:nvPr/>
        </p:nvSpPr>
        <p:spPr>
          <a:xfrm>
            <a:off x="5084064" y="3438144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Pydantic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lanza ValidationError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388352" y="3383280"/>
            <a:ext cx="2148840" cy="658368"/>
          </a:xfrm>
          <a:prstGeom prst="roundRect">
            <a:avLst>
              <a:gd name="adj" fmla="val 8333"/>
            </a:avLst>
          </a:prstGeom>
          <a:solidFill>
            <a:srgbClr val="1E1040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Text 54"/>
          <p:cNvSpPr/>
          <p:nvPr/>
        </p:nvSpPr>
        <p:spPr>
          <a:xfrm>
            <a:off x="7461504" y="3438144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422 Unprocessable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423160" y="3712464"/>
            <a:ext cx="192024" cy="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58" name="Shape 56"/>
          <p:cNvSpPr/>
          <p:nvPr/>
        </p:nvSpPr>
        <p:spPr>
          <a:xfrm>
            <a:off x="4800600" y="3712464"/>
            <a:ext cx="192024" cy="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59" name="Shape 57"/>
          <p:cNvSpPr/>
          <p:nvPr/>
        </p:nvSpPr>
        <p:spPr>
          <a:xfrm>
            <a:off x="7178040" y="3712464"/>
            <a:ext cx="192024" cy="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60" name="Text 58"/>
          <p:cNvSpPr/>
          <p:nvPr/>
        </p:nvSpPr>
        <p:spPr>
          <a:xfrm>
            <a:off x="256032" y="4169664"/>
            <a:ext cx="8613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El dato NO se escribe en la base de datos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201168"/>
            <a:ext cx="329184" cy="329184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8577072" y="347472"/>
            <a:ext cx="219456" cy="219456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8211312" y="4187952"/>
            <a:ext cx="402336" cy="402336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11480" y="4069080"/>
            <a:ext cx="274320" cy="274320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480560" y="91440"/>
            <a:ext cx="182880" cy="182880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242048" y="2487168"/>
            <a:ext cx="146304" cy="146304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581912" y="1947672"/>
            <a:ext cx="128016" cy="128016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4005072" y="4462272"/>
            <a:ext cx="219456" cy="219456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01168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Instrucciones de Ejecución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01168" y="59436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Orden correcto de arranque de los tres componentes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274320" y="487375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686800" y="487375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56032" y="1216152"/>
            <a:ext cx="566928" cy="566928"/>
          </a:xfrm>
          <a:prstGeom prst="ellipse">
            <a:avLst/>
          </a:prstGeom>
          <a:solidFill>
            <a:srgbClr val="22D3EE">
              <a:alpha val="8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256032" y="12161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12161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Instalar dependencias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4400" y="1527048"/>
            <a:ext cx="7955280" cy="438912"/>
          </a:xfrm>
          <a:prstGeom prst="rect">
            <a:avLst/>
          </a:prstGeom>
          <a:solidFill>
            <a:srgbClr val="130D2A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1051560" y="155448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pip install fastapi uvicorn sqlalchemy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     requests streamlit pydantic pandas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2103120"/>
            <a:ext cx="566928" cy="566928"/>
          </a:xfrm>
          <a:prstGeom prst="ellipse">
            <a:avLst/>
          </a:prstGeom>
          <a:solidFill>
            <a:srgbClr val="A855F7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256032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21031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Arrancar el Concentrador (Terminal 1)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14400" y="2414016"/>
            <a:ext cx="7955280" cy="438912"/>
          </a:xfrm>
          <a:prstGeom prst="rect">
            <a:avLst/>
          </a:prstGeom>
          <a:solidFill>
            <a:srgbClr val="130D2A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1051560" y="24414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python -m uvicorn main:app --reload --port 8000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# Verificar: curl http://localhost:8000/health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" y="2990088"/>
            <a:ext cx="566928" cy="566928"/>
          </a:xfrm>
          <a:prstGeom prst="ellipse">
            <a:avLst/>
          </a:prstGeom>
          <a:solidFill>
            <a:srgbClr val="E879F9">
              <a:alpha val="80000"/>
            </a:srgbClr>
          </a:solidFill>
          <a:ln w="12700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256032" y="29900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4400" y="299008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79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Arrancar los 10 Generadores (Terminal 2)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14400" y="3300984"/>
            <a:ext cx="7955280" cy="438912"/>
          </a:xfrm>
          <a:prstGeom prst="rect">
            <a:avLst/>
          </a:prstGeom>
          <a:solidFill>
            <a:srgbClr val="130D2A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1051560" y="33284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python generator.py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# O un generador concreto: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python generator.py --id 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" y="3877056"/>
            <a:ext cx="566928" cy="566928"/>
          </a:xfrm>
          <a:prstGeom prst="ellipse">
            <a:avLst/>
          </a:prstGeom>
          <a:solidFill>
            <a:srgbClr val="34D399">
              <a:alpha val="8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256032" y="3877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4400" y="387705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Abrir el Dashboard (Terminal 3)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14400" y="4187952"/>
            <a:ext cx="7955280" cy="438912"/>
          </a:xfrm>
          <a:prstGeom prst="rect">
            <a:avLst/>
          </a:prstGeom>
          <a:solidFill>
            <a:srgbClr val="130D2A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1051560" y="421538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python -m streamlit run dashboard.py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# Abre http://localhost:8501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6032" y="4663440"/>
            <a:ext cx="8613648" cy="182880"/>
          </a:xfrm>
          <a:prstGeom prst="roundRect">
            <a:avLst>
              <a:gd name="adj" fmla="val 20000"/>
            </a:avLst>
          </a:prstGeom>
          <a:solidFill>
            <a:srgbClr val="FCD34D">
              <a:alpha val="20000"/>
            </a:srgbClr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347472" y="4672584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 En Windows: usa 'python -m streamlit run' y 'python -m uvicorn' si el PATH no incluye Scripts/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7C3AED">
              <a:alpha val="35000"/>
            </a:srgbClr>
          </a:solidFill>
          <a:ln w="12700">
            <a:solidFill>
              <a:srgbClr val="7C3AE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583680" y="-182880"/>
            <a:ext cx="3200400" cy="3200400"/>
          </a:xfrm>
          <a:prstGeom prst="ellipse">
            <a:avLst/>
          </a:prstGeom>
          <a:solidFill>
            <a:srgbClr val="A855F7">
              <a:alpha val="28000"/>
            </a:srgbClr>
          </a:solidFill>
          <a:ln w="12700">
            <a:solidFill>
              <a:srgbClr val="A855F7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4" name="Shape 2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Retos</a:t>
            </a: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6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encotrados</a:t>
            </a: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859536"/>
            <a:ext cx="2560320" cy="36576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1263053" y="1009883"/>
            <a:ext cx="2555096" cy="3466633"/>
          </a:xfrm>
          <a:prstGeom prst="rect">
            <a:avLst/>
          </a:prstGeom>
          <a:solidFill>
            <a:srgbClr val="1E1040"/>
          </a:solidFill>
          <a:ln w="19050">
            <a:solidFill>
              <a:srgbClr val="22D3EE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283644" y="1009883"/>
            <a:ext cx="2534505" cy="347472"/>
          </a:xfrm>
          <a:prstGeom prst="rect">
            <a:avLst/>
          </a:prstGeom>
          <a:solidFill>
            <a:srgbClr val="22D3EE">
              <a:alpha val="75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9" name="Text 7"/>
          <p:cNvSpPr/>
          <p:nvPr/>
        </p:nvSpPr>
        <p:spPr>
          <a:xfrm>
            <a:off x="1065758" y="1046988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SQLite sin zona </a:t>
            </a:r>
            <a:r>
              <a:rPr lang="en-US" sz="1100" b="1" dirty="0" err="1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horaria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80744" y="1645920"/>
            <a:ext cx="2437405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  <a:buSzPct val="100000"/>
            </a:pPr>
            <a:r>
              <a:rPr lang="en-US" sz="14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no </a:t>
            </a:r>
            <a:r>
              <a:rPr lang="en-US" sz="1400" dirty="0" err="1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almacena</a:t>
            </a:r>
            <a:r>
              <a:rPr lang="en-US" sz="14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00" dirty="0" err="1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tzinfo</a:t>
            </a:r>
            <a:r>
              <a:rPr lang="en-US" sz="14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00" dirty="0" err="1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</a:t>
            </a:r>
            <a:r>
              <a:rPr lang="en-US" sz="14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columnas </a:t>
            </a:r>
            <a:r>
              <a:rPr lang="en-US" sz="1400" dirty="0" err="1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DateTime</a:t>
            </a:r>
            <a:endParaRPr lang="en-US" sz="1400" dirty="0">
              <a:solidFill>
                <a:srgbClr val="A78BFA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>
              <a:spcAft>
                <a:spcPts val="800"/>
              </a:spcAft>
              <a:buSzPct val="100000"/>
            </a:pPr>
            <a:endParaRPr lang="en-US" sz="1400" dirty="0">
              <a:solidFill>
                <a:srgbClr val="A78BFA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n-US" sz="14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-&gt; </a:t>
            </a:r>
            <a:r>
              <a:rPr lang="en-US" sz="1400" dirty="0" err="1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Convertir</a:t>
            </a:r>
            <a:r>
              <a:rPr lang="en-US" sz="14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UTC antes de </a:t>
            </a:r>
            <a:r>
              <a:rPr lang="en-US" sz="1400" dirty="0" err="1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guardar</a:t>
            </a:r>
            <a:r>
              <a:rPr lang="en-US" sz="14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00" dirty="0" err="1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</a:t>
            </a:r>
            <a:r>
              <a:rPr lang="en-US" sz="14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00" dirty="0" err="1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datos</a:t>
            </a:r>
            <a:r>
              <a:rPr lang="en-US" sz="14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
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36972" y="981829"/>
            <a:ext cx="2556277" cy="3466633"/>
          </a:xfrm>
          <a:prstGeom prst="rect">
            <a:avLst/>
          </a:prstGeom>
          <a:solidFill>
            <a:srgbClr val="1E1040"/>
          </a:solidFill>
          <a:ln w="19050">
            <a:solidFill>
              <a:srgbClr val="A855F7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12" name="Shape 10"/>
          <p:cNvSpPr/>
          <p:nvPr/>
        </p:nvSpPr>
        <p:spPr>
          <a:xfrm>
            <a:off x="4636971" y="1001221"/>
            <a:ext cx="2556277" cy="347472"/>
          </a:xfrm>
          <a:prstGeom prst="rect">
            <a:avLst/>
          </a:prstGeom>
          <a:solidFill>
            <a:srgbClr val="A855F7">
              <a:alpha val="75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636971" y="1056132"/>
            <a:ext cx="25562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 de </a:t>
            </a:r>
            <a:r>
              <a:rPr lang="en-US" sz="11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ejecutables</a:t>
            </a: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00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</a:t>
            </a: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windows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75616" y="1464191"/>
            <a:ext cx="254203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  <a:buSzPct val="100000"/>
            </a:pPr>
            <a:r>
              <a:rPr lang="es-ES" sz="1400" dirty="0" err="1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streamlit</a:t>
            </a:r>
            <a:r>
              <a:rPr lang="es-ES" sz="14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r>
              <a:rPr lang="es-ES" sz="1400" dirty="0" err="1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uvicorn</a:t>
            </a:r>
            <a:r>
              <a:rPr lang="es-ES" sz="14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instalados con </a:t>
            </a:r>
            <a:r>
              <a:rPr lang="es-ES" sz="1400" dirty="0" err="1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</a:t>
            </a:r>
            <a:r>
              <a:rPr lang="es-ES" sz="14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siempre quedan en el PATH. </a:t>
            </a:r>
          </a:p>
          <a:p>
            <a:pPr>
              <a:spcAft>
                <a:spcPts val="800"/>
              </a:spcAft>
              <a:buSzPct val="100000"/>
            </a:pPr>
            <a:endParaRPr lang="es-ES" sz="1400" dirty="0">
              <a:solidFill>
                <a:srgbClr val="A78BFA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s-ES" sz="14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-&gt;usar </a:t>
            </a:r>
            <a:r>
              <a:rPr lang="es-ES" sz="1400" dirty="0" err="1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r>
              <a:rPr lang="es-ES" sz="14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-m </a:t>
            </a:r>
            <a:r>
              <a:rPr lang="es-ES" sz="1400" dirty="0" err="1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streamlit</a:t>
            </a:r>
            <a:r>
              <a:rPr lang="es-ES" sz="14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run y </a:t>
            </a:r>
            <a:r>
              <a:rPr lang="es-ES" sz="1400" dirty="0" err="1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r>
              <a:rPr lang="es-ES" sz="14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-m </a:t>
            </a:r>
            <a:r>
              <a:rPr lang="es-ES" sz="1400" dirty="0" err="1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uvicorn</a:t>
            </a:r>
            <a:r>
              <a:rPr lang="es-ES" sz="14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lugar de los ejecutables directamente.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81344" y="1024128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19656" y="2656985"/>
            <a:ext cx="254203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  <a:buSzPct val="100000"/>
            </a:pP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274320" y="487375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🌬️  Parque Eólico IoT  ·  FastAPI · Pydantic · SQLAlchemy · Streamlit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686800" y="487375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274320" y="48737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8402F9-F05B-178D-D4B6-7C06C7BE6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426D781-BB57-C779-413C-B7E4AC873DA9}"/>
              </a:ext>
            </a:extLst>
          </p:cNvPr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7C3AED">
              <a:alpha val="35000"/>
            </a:srgbClr>
          </a:solidFill>
          <a:ln w="12700">
            <a:solidFill>
              <a:srgbClr val="7C3AED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8D26A77-62B8-7DFB-82D7-E755FB27C9F1}"/>
              </a:ext>
            </a:extLst>
          </p:cNvPr>
          <p:cNvSpPr/>
          <p:nvPr/>
        </p:nvSpPr>
        <p:spPr>
          <a:xfrm>
            <a:off x="6583680" y="-182880"/>
            <a:ext cx="3200400" cy="3200400"/>
          </a:xfrm>
          <a:prstGeom prst="ellipse">
            <a:avLst/>
          </a:prstGeom>
          <a:solidFill>
            <a:srgbClr val="A855F7">
              <a:alpha val="28000"/>
            </a:srgbClr>
          </a:solidFill>
          <a:ln w="12700">
            <a:solidFill>
              <a:srgbClr val="A855F7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8E6C8ED-BC27-FDAD-1DD2-84B8B5F32D88}"/>
              </a:ext>
            </a:extLst>
          </p:cNvPr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5CEE01A-975B-D2AA-92EE-EBED95A471D7}"/>
              </a:ext>
            </a:extLst>
          </p:cNvPr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Vías de Mejora</a:t>
            </a:r>
            <a:endParaRPr lang="en-US" sz="2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6EE39A8-E490-1808-5633-1ACF8F79E949}"/>
              </a:ext>
            </a:extLst>
          </p:cNvPr>
          <p:cNvSpPr/>
          <p:nvPr/>
        </p:nvSpPr>
        <p:spPr>
          <a:xfrm>
            <a:off x="457200" y="859536"/>
            <a:ext cx="2560320" cy="36576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9E3E841-31D8-27FE-CE7D-AA5F9DD507CC}"/>
              </a:ext>
            </a:extLst>
          </p:cNvPr>
          <p:cNvSpPr/>
          <p:nvPr/>
        </p:nvSpPr>
        <p:spPr>
          <a:xfrm>
            <a:off x="274320" y="1005840"/>
            <a:ext cx="2816352" cy="3337560"/>
          </a:xfrm>
          <a:prstGeom prst="rect">
            <a:avLst/>
          </a:prstGeom>
          <a:solidFill>
            <a:srgbClr val="1E1040"/>
          </a:solidFill>
          <a:ln w="19050">
            <a:solidFill>
              <a:srgbClr val="22D3EE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ACA8C80-2578-BB17-AC70-8E9E8DEF9F62}"/>
              </a:ext>
            </a:extLst>
          </p:cNvPr>
          <p:cNvSpPr/>
          <p:nvPr/>
        </p:nvSpPr>
        <p:spPr>
          <a:xfrm>
            <a:off x="274320" y="1005840"/>
            <a:ext cx="2816352" cy="347472"/>
          </a:xfrm>
          <a:prstGeom prst="rect">
            <a:avLst/>
          </a:prstGeom>
          <a:solidFill>
            <a:srgbClr val="22D3EE">
              <a:alpha val="75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4BD5948-6773-0BFB-03F0-AF43F2949A29}"/>
              </a:ext>
            </a:extLst>
          </p:cNvPr>
          <p:cNvSpPr/>
          <p:nvPr/>
        </p:nvSpPr>
        <p:spPr>
          <a:xfrm>
            <a:off x="274320" y="1024128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Corto plazo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ED78264-947C-7A7C-B63A-B3EC90BBC9FB}"/>
              </a:ext>
            </a:extLst>
          </p:cNvPr>
          <p:cNvSpPr/>
          <p:nvPr/>
        </p:nvSpPr>
        <p:spPr>
          <a:xfrm>
            <a:off x="411480" y="1463040"/>
            <a:ext cx="254203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JWT en lugar de API Key estática
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🧪 Tests unitarios con pytest + httpx
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Alertas en tiempo real por avería</a:t>
            </a:r>
            <a:endParaRPr lang="en-US" sz="9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B3057A5-23D2-C7E2-76E0-8239CDC781C9}"/>
              </a:ext>
            </a:extLst>
          </p:cNvPr>
          <p:cNvSpPr/>
          <p:nvPr/>
        </p:nvSpPr>
        <p:spPr>
          <a:xfrm>
            <a:off x="3227832" y="1005840"/>
            <a:ext cx="2816352" cy="3337560"/>
          </a:xfrm>
          <a:prstGeom prst="rect">
            <a:avLst/>
          </a:prstGeom>
          <a:solidFill>
            <a:srgbClr val="1E1040"/>
          </a:solidFill>
          <a:ln w="19050">
            <a:solidFill>
              <a:srgbClr val="A855F7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3382139-2C39-63FD-5299-4271C51DD3D6}"/>
              </a:ext>
            </a:extLst>
          </p:cNvPr>
          <p:cNvSpPr/>
          <p:nvPr/>
        </p:nvSpPr>
        <p:spPr>
          <a:xfrm>
            <a:off x="3227832" y="1005840"/>
            <a:ext cx="2816352" cy="347472"/>
          </a:xfrm>
          <a:prstGeom prst="rect">
            <a:avLst/>
          </a:prstGeom>
          <a:solidFill>
            <a:srgbClr val="A855F7">
              <a:alpha val="75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90FB2DC-30FA-44EC-064C-43839556B2F4}"/>
              </a:ext>
            </a:extLst>
          </p:cNvPr>
          <p:cNvSpPr/>
          <p:nvPr/>
        </p:nvSpPr>
        <p:spPr>
          <a:xfrm>
            <a:off x="3227832" y="1024128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Medio plazo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9459BCB-F455-3B0A-3C64-1EFC3A23F5BC}"/>
              </a:ext>
            </a:extLst>
          </p:cNvPr>
          <p:cNvSpPr/>
          <p:nvPr/>
        </p:nvSpPr>
        <p:spPr>
          <a:xfrm>
            <a:off x="3364992" y="1463040"/>
            <a:ext cx="254203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📡 MQTT como transporte IoT nativo
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🗄️ TimescaleDB para series temporales
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⏱️ Ventanas de agregación variables</a:t>
            </a:r>
            <a:endParaRPr lang="en-US" sz="95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6CF049C-2F78-B10A-93D1-22214F5BAC4C}"/>
              </a:ext>
            </a:extLst>
          </p:cNvPr>
          <p:cNvSpPr/>
          <p:nvPr/>
        </p:nvSpPr>
        <p:spPr>
          <a:xfrm>
            <a:off x="6181344" y="1005840"/>
            <a:ext cx="2816352" cy="3337560"/>
          </a:xfrm>
          <a:prstGeom prst="rect">
            <a:avLst/>
          </a:prstGeom>
          <a:solidFill>
            <a:srgbClr val="1E1040"/>
          </a:solidFill>
          <a:ln w="19050">
            <a:solidFill>
              <a:srgbClr val="E879F9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93473AD-2F19-E337-4DF1-D10B29FE078C}"/>
              </a:ext>
            </a:extLst>
          </p:cNvPr>
          <p:cNvSpPr/>
          <p:nvPr/>
        </p:nvSpPr>
        <p:spPr>
          <a:xfrm>
            <a:off x="6181344" y="1005840"/>
            <a:ext cx="2816352" cy="347472"/>
          </a:xfrm>
          <a:prstGeom prst="rect">
            <a:avLst/>
          </a:prstGeom>
          <a:solidFill>
            <a:srgbClr val="E879F9">
              <a:alpha val="75000"/>
            </a:srgbClr>
          </a:solidFill>
          <a:ln w="12700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27C39A8-E390-847A-33D2-AFDEF3373429}"/>
              </a:ext>
            </a:extLst>
          </p:cNvPr>
          <p:cNvSpPr/>
          <p:nvPr/>
        </p:nvSpPr>
        <p:spPr>
          <a:xfrm>
            <a:off x="6181344" y="1024128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Largo plazo</a:t>
            </a:r>
            <a:endParaRPr lang="en-US" sz="1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6284C65-D67F-2415-99E6-7F74EF5F053D}"/>
              </a:ext>
            </a:extLst>
          </p:cNvPr>
          <p:cNvSpPr/>
          <p:nvPr/>
        </p:nvSpPr>
        <p:spPr>
          <a:xfrm>
            <a:off x="6318504" y="1463040"/>
            <a:ext cx="254203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🐳 Docker Compose multi-servicio
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ML para mantenimiento predictivo
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🔌 WebSocket → eliminar polling</a:t>
            </a:r>
            <a:endParaRPr lang="en-US" sz="9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B6AEAFE-D701-757C-1FE2-57DCF59299BC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431146C-5C8B-1B21-F648-E75805D7D3EF}"/>
              </a:ext>
            </a:extLst>
          </p:cNvPr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03F5F96-AA57-B882-43AE-BDE5D2132380}"/>
              </a:ext>
            </a:extLst>
          </p:cNvPr>
          <p:cNvSpPr/>
          <p:nvPr/>
        </p:nvSpPr>
        <p:spPr>
          <a:xfrm>
            <a:off x="274320" y="487375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🌬️  Parque Eólico IoT  ·  FastAPI · Pydantic · SQLAlchemy · Streamlit</a:t>
            </a:r>
            <a:endParaRPr lang="en-US" sz="8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E6B2EF5-04BD-91E6-C4D0-354ECCCF73FF}"/>
              </a:ext>
            </a:extLst>
          </p:cNvPr>
          <p:cNvSpPr/>
          <p:nvPr/>
        </p:nvSpPr>
        <p:spPr>
          <a:xfrm>
            <a:off x="8686800" y="487375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8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31814098-64CE-C264-8A7B-EF9CC814D76F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1033"/>
          </a:solidFill>
          <a:ln w="12700">
            <a:solidFill>
              <a:srgbClr val="1A10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940E9899-7CE8-08E7-497A-7834A7DE74D1}"/>
              </a:ext>
            </a:extLst>
          </p:cNvPr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32D13C00-CA84-378B-EB2A-B67BFFD72E20}"/>
              </a:ext>
            </a:extLst>
          </p:cNvPr>
          <p:cNvSpPr/>
          <p:nvPr/>
        </p:nvSpPr>
        <p:spPr>
          <a:xfrm>
            <a:off x="274320" y="48737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🌬️  Parque Eólico IoT  ·  FastAPI · Pydantic · SQLAlchemy · Streamlit  ·  2025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106741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1590</Words>
  <Application>Microsoft Office PowerPoint</Application>
  <PresentationFormat>Presentación en pantalla (16:9)</PresentationFormat>
  <Paragraphs>200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Cascadia Code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Parque Eólico IoT</dc:title>
  <dc:subject>PptxGenJS Presentation</dc:subject>
  <dc:creator>PptxGenJS</dc:creator>
  <cp:lastModifiedBy>Alaia Yeregui Foncea</cp:lastModifiedBy>
  <cp:revision>2</cp:revision>
  <dcterms:created xsi:type="dcterms:W3CDTF">2026-03-22T11:47:41Z</dcterms:created>
  <dcterms:modified xsi:type="dcterms:W3CDTF">2026-03-25T16:35:34Z</dcterms:modified>
</cp:coreProperties>
</file>